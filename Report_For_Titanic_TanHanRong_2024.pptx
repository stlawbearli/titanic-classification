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3"/>
    <p:sldId id="257" r:id="rId4"/>
    <p:sldId id="258" r:id="rId5"/>
    <p:sldId id="259" r:id="rId7"/>
    <p:sldId id="260" r:id="rId8"/>
    <p:sldId id="273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4" r:id="rId20"/>
    <p:sldId id="276" r:id="rId21"/>
    <p:sldId id="275" r:id="rId22"/>
    <p:sldId id="277" r:id="rId23"/>
    <p:sldId id="278" r:id="rId24"/>
    <p:sldId id="279" r:id="rId25"/>
    <p:sldId id="271" r:id="rId26"/>
    <p:sldId id="280" r:id="rId27"/>
    <p:sldId id="272" r:id="rId28"/>
    <p:sldId id="281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12 features, with the test set removing the survived column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Did a tutorial and used it as a basis to serve as a benchmark/baseline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It is noted that the first class are usually nearer to the top floor/ deck. </a:t>
            </a:r>
            <a:endParaRPr lang="en-US"/>
          </a:p>
          <a:p>
            <a:r>
              <a:rPr lang="en-US"/>
              <a:t>2nd Class is near the back/ aft/ stern of the ship, but still relatively close to the top decks.</a:t>
            </a:r>
            <a:endParaRPr lang="en-US"/>
          </a:p>
          <a:p>
            <a:r>
              <a:rPr lang="en-US"/>
              <a:t>3rd Class mixes with the crew and often seen near Store, Cargo / more dangerous areas of the ship. or even under the dining area of 1st Class</a:t>
            </a:r>
            <a:endParaRPr lang="en-US"/>
          </a:p>
          <a:p>
            <a:r>
              <a:rPr lang="en-US">
                <a:sym typeface="+mn-ea"/>
              </a:rPr>
              <a:t>Cabin: It was abit too complex and time consuming to determine where each cabin was.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Didn’t choose n_neighbours as 5 since it overfits as seen in classes/ labs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With the help of chatGPT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/>
              <a:t>Tune: (</a:t>
            </a:r>
            <a:r>
              <a:rPr lang="en-US" altLang="en-US"/>
              <a:t>number of trees, depth) using grid search or random search with cross-validation.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Ensemble methods combine predictions from multiple models to create a more accurate and robust predictive model. The idea is that different models may make errors on different parts of the data, so combining their predictions can cancel out individual weaknesses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Ensemble can be like boosting and strapping (What we have learn in the other module as well) Ai Human interfaces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GI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Applied Machine Practice Report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Tan Han Rong </a:t>
            </a:r>
            <a:endParaRPr lang="en-US"/>
          </a:p>
          <a:p>
            <a:endParaRPr lang="en-US"/>
          </a:p>
          <a:p>
            <a:r>
              <a:rPr lang="en-US"/>
              <a:t>Prediction of survival of </a:t>
            </a:r>
            <a:endParaRPr lang="en-US"/>
          </a:p>
          <a:p>
            <a:r>
              <a:rPr lang="en-US"/>
              <a:t>Passengers in RMS Titanic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Table of Contents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800"/>
              <a:t>Description of data</a:t>
            </a:r>
            <a:endParaRPr lang="en-US" sz="2800"/>
          </a:p>
          <a:p>
            <a:r>
              <a:rPr lang="en-US" sz="2800">
                <a:sym typeface="+mn-ea"/>
              </a:rPr>
              <a:t>Prelimary Research and Refresher</a:t>
            </a:r>
            <a:endParaRPr lang="en-US" sz="2800"/>
          </a:p>
          <a:p>
            <a:r>
              <a:rPr lang="en-US" sz="2800">
                <a:sym typeface="+mn-ea"/>
              </a:rPr>
              <a:t>Background research</a:t>
            </a:r>
            <a:endParaRPr lang="en-US" sz="2800">
              <a:sym typeface="+mn-ea"/>
            </a:endParaRPr>
          </a:p>
          <a:p>
            <a:r>
              <a:rPr lang="en-US" sz="2800">
                <a:sym typeface="+mn-ea"/>
              </a:rPr>
              <a:t>Start of Code</a:t>
            </a:r>
            <a:endParaRPr lang="en-US" sz="2800"/>
          </a:p>
          <a:p>
            <a:r>
              <a:rPr lang="en-US" sz="2800">
                <a:sym typeface="+mn-ea"/>
              </a:rPr>
              <a:t>Data Cleaning</a:t>
            </a:r>
            <a:endParaRPr lang="en-US" sz="2800"/>
          </a:p>
          <a:p>
            <a:r>
              <a:rPr lang="en-US" sz="2800">
                <a:sym typeface="+mn-ea"/>
              </a:rPr>
              <a:t>Feature Engineering</a:t>
            </a:r>
            <a:endParaRPr lang="en-US" sz="2800">
              <a:sym typeface="+mn-ea"/>
            </a:endParaRPr>
          </a:p>
          <a:p>
            <a:r>
              <a:rPr lang="en-US" sz="2800">
                <a:sym typeface="+mn-ea"/>
              </a:rPr>
              <a:t>Model Building</a:t>
            </a:r>
            <a:endParaRPr lang="en-US" sz="2800">
              <a:sym typeface="+mn-ea"/>
            </a:endParaRPr>
          </a:p>
          <a:p>
            <a:r>
              <a:rPr lang="en-US" sz="2800">
                <a:sym typeface="+mn-ea"/>
              </a:rPr>
              <a:t>Evaluation</a:t>
            </a:r>
            <a:endParaRPr lang="en-US" sz="2800"/>
          </a:p>
          <a:p>
            <a:r>
              <a:rPr lang="en-US" sz="2800">
                <a:sym typeface="+mn-ea"/>
              </a:rPr>
              <a:t>Submission of the Kaggle predictions</a:t>
            </a:r>
            <a:endParaRPr lang="en-US" sz="2800"/>
          </a:p>
          <a:p>
            <a:r>
              <a:rPr lang="en-US" sz="2800">
                <a:sym typeface="+mn-ea"/>
              </a:rPr>
              <a:t>Improvements</a:t>
            </a:r>
            <a:endParaRPr lang="en-US" sz="2800">
              <a:sym typeface="+mn-ea"/>
            </a:endParaRPr>
          </a:p>
          <a:p>
            <a:r>
              <a:rPr lang="en-US" sz="2800">
                <a:sym typeface="+mn-ea"/>
              </a:rPr>
              <a:t>References</a:t>
            </a:r>
            <a:endParaRPr lang="en-US" sz="2800">
              <a:sym typeface="+mn-ea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99440" y="2691765"/>
            <a:ext cx="6363970" cy="3181350"/>
          </a:xfrm>
          <a:prstGeom prst="roundRect">
            <a:avLst/>
          </a:prstGeom>
          <a:solidFill>
            <a:srgbClr val="92D050">
              <a:alpha val="20000"/>
            </a:srgbClr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Description of data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RMS Titanic sank on April 15, 1912.</a:t>
            </a:r>
            <a:endParaRPr lang="en-US"/>
          </a:p>
          <a:p>
            <a:r>
              <a:rPr lang="en-US"/>
              <a:t>1,502 out of 2,224 passengers and crew passed on due to the lack of life boats.</a:t>
            </a:r>
            <a:endParaRPr lang="en-US"/>
          </a:p>
          <a:p>
            <a:endParaRPr lang="en-US"/>
          </a:p>
          <a:p>
            <a:r>
              <a:rPr lang="en-US"/>
              <a:t>Data is separated into 2 sets, one for training, and one for test and Kaggle submission.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105" y="4546600"/>
            <a:ext cx="10455275" cy="1909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Prelimary Research and Refresher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While looking through Kaggle, I found a tutorial by Alexis Cook.</a:t>
            </a:r>
            <a:endParaRPr lang="en-US"/>
          </a:p>
          <a:p>
            <a:pPr lvl="1"/>
            <a:r>
              <a:rPr lang="en-US" sz="2800"/>
              <a:t>Tutorial used Random Forest Classfier and mainly used Sex to train the model.</a:t>
            </a:r>
            <a:r>
              <a:rPr lang="en-US"/>
              <a:t> (Other features included were Pclass, SibSp, Parch)</a:t>
            </a:r>
            <a:br>
              <a:rPr lang="en-US"/>
            </a:br>
            <a:endParaRPr lang="en-US"/>
          </a:p>
          <a:p>
            <a:pPr lvl="1"/>
            <a:r>
              <a:rPr lang="en-US"/>
              <a:t>Ended with an accuracy score of 0.77511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667885"/>
            <a:ext cx="11058525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Background research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Went to search up more details on the Titanic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768475"/>
            <a:ext cx="11353800" cy="40582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Background research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Classes: </a:t>
            </a:r>
            <a:r>
              <a:rPr lang="en-US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</a:rPr>
              <a:t>Purple - 1st Class</a:t>
            </a:r>
            <a:r>
              <a:rPr lang="en-US"/>
              <a:t>, </a:t>
            </a:r>
            <a:r>
              <a:rPr lang="en-US">
                <a:solidFill>
                  <a:srgbClr val="00B050"/>
                </a:solidFill>
              </a:rPr>
              <a:t>Green - 2nd</a:t>
            </a:r>
            <a:r>
              <a:rPr lang="en-US"/>
              <a:t>, Black - 3rd 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768475"/>
            <a:ext cx="11353800" cy="4058285"/>
          </a:xfrm>
          <a:prstGeom prst="rect">
            <a:avLst/>
          </a:prstGeom>
        </p:spPr>
      </p:pic>
      <p:sp>
        <p:nvSpPr>
          <p:cNvPr id="4" name="Rectangles 3"/>
          <p:cNvSpPr/>
          <p:nvPr/>
        </p:nvSpPr>
        <p:spPr>
          <a:xfrm>
            <a:off x="5820410" y="4245610"/>
            <a:ext cx="897255" cy="400050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5050155" y="4245610"/>
            <a:ext cx="253365" cy="400050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7" name="Rectangles 6"/>
          <p:cNvSpPr/>
          <p:nvPr/>
        </p:nvSpPr>
        <p:spPr>
          <a:xfrm>
            <a:off x="3561715" y="4245610"/>
            <a:ext cx="403225" cy="127000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111885" y="4147820"/>
            <a:ext cx="808355" cy="95948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45360" y="4068445"/>
            <a:ext cx="1718945" cy="861060"/>
          </a:xfrm>
          <a:prstGeom prst="roundRect">
            <a:avLst/>
          </a:prstGeom>
          <a:solidFill>
            <a:srgbClr val="92D050">
              <a:alpha val="20000"/>
            </a:srgbClr>
          </a:solidFill>
          <a:ln w="28575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7376795" y="4068445"/>
            <a:ext cx="867410" cy="861060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735060" y="4068445"/>
            <a:ext cx="629920" cy="702945"/>
          </a:xfrm>
          <a:prstGeom prst="rect">
            <a:avLst/>
          </a:prstGeom>
          <a:solidFill>
            <a:srgbClr val="7030A0"/>
          </a:solidFill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9484360" y="4068445"/>
            <a:ext cx="1144905" cy="1039495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772785" y="4645660"/>
            <a:ext cx="1025525" cy="303530"/>
          </a:xfrm>
          <a:prstGeom prst="roundRect">
            <a:avLst/>
          </a:prstGeom>
          <a:solidFill>
            <a:schemeClr val="accent1">
              <a:lumMod val="40000"/>
              <a:lumOff val="60000"/>
              <a:alpha val="20000"/>
            </a:schemeClr>
          </a:solidFill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sp>
        <p:nvSpPr>
          <p:cNvPr id="16" name="Content Placeholder 2"/>
          <p:cNvSpPr>
            <a:spLocks noGrp="1"/>
          </p:cNvSpPr>
          <p:nvPr/>
        </p:nvSpPr>
        <p:spPr>
          <a:xfrm>
            <a:off x="736600" y="5826760"/>
            <a:ext cx="10972800" cy="7842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Cabin: It was abit too complex with the number of missing data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Background research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Embarkation sites</a:t>
            </a:r>
            <a:endParaRPr lang="en-US"/>
          </a:p>
          <a:p>
            <a:pPr lvl="1"/>
            <a:r>
              <a:rPr lang="en-US"/>
              <a:t>Considered finding out which town was </a:t>
            </a:r>
            <a:r>
              <a:rPr lang="en-US" u="sng"/>
              <a:t>richer</a:t>
            </a:r>
            <a:r>
              <a:rPr lang="en-US"/>
              <a:t>, which will increase the likelihood of them buying the more expensive tickets.</a:t>
            </a:r>
            <a:endParaRPr lang="en-US"/>
          </a:p>
          <a:p>
            <a:pPr lvl="1"/>
            <a:r>
              <a:rPr lang="en-US"/>
              <a:t>After thinking about it, it will be reflected in the </a:t>
            </a:r>
            <a:r>
              <a:rPr lang="en-US" u="sng"/>
              <a:t>Pclass</a:t>
            </a:r>
            <a:r>
              <a:rPr lang="en-US"/>
              <a:t> and likely reflected in the </a:t>
            </a:r>
            <a:r>
              <a:rPr lang="en-US" u="sng"/>
              <a:t>price of the ticket</a:t>
            </a:r>
            <a:r>
              <a:rPr lang="en-US"/>
              <a:t>. </a:t>
            </a:r>
            <a:endParaRPr lang="en-US"/>
          </a:p>
          <a:p>
            <a:pPr lvl="1"/>
            <a:r>
              <a:rPr lang="en-US"/>
              <a:t>I do agree to a certain </a:t>
            </a:r>
            <a:br>
              <a:rPr lang="en-US"/>
            </a:br>
            <a:r>
              <a:rPr lang="en-US"/>
              <a:t>extent it will affect</a:t>
            </a:r>
            <a:br>
              <a:rPr lang="en-US"/>
            </a:br>
            <a:r>
              <a:rPr lang="en-US"/>
              <a:t>survivalbility</a:t>
            </a:r>
            <a:endParaRPr lang="en-US"/>
          </a:p>
          <a:p>
            <a:pPr lvl="1"/>
            <a:endParaRPr lang="en-US"/>
          </a:p>
        </p:txBody>
      </p:sp>
      <p:pic>
        <p:nvPicPr>
          <p:cNvPr id="6" name="Picture 5"/>
          <p:cNvPicPr/>
          <p:nvPr/>
        </p:nvPicPr>
        <p:blipFill>
          <a:blip r:embed="rId1"/>
          <a:stretch>
            <a:fillRect/>
          </a:stretch>
        </p:blipFill>
        <p:spPr>
          <a:xfrm>
            <a:off x="5763895" y="4214178"/>
            <a:ext cx="6038850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Background research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Gender and Age</a:t>
            </a:r>
            <a:endParaRPr lang="en-US"/>
          </a:p>
          <a:p>
            <a:pPr lvl="1"/>
            <a:r>
              <a:rPr lang="en-US">
                <a:sym typeface="+mn-ea"/>
              </a:rPr>
              <a:t>On the faithful incident on the Titanic the women and children to be evacuated first order was enforced by the crew, and accepted by the passengers.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740" y="3590925"/>
            <a:ext cx="6305550" cy="2381250"/>
          </a:xfrm>
          <a:prstGeom prst="rect">
            <a:avLst/>
          </a:prstGeom>
        </p:spPr>
      </p:pic>
      <p:sp>
        <p:nvSpPr>
          <p:cNvPr id="6" name="Content Placeholder 2"/>
          <p:cNvSpPr>
            <a:spLocks noGrp="1"/>
          </p:cNvSpPr>
          <p:nvPr/>
        </p:nvSpPr>
        <p:spPr>
          <a:xfrm>
            <a:off x="8635365" y="6127750"/>
            <a:ext cx="3356610" cy="53911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Onto the code...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Start of Code</a:t>
            </a:r>
            <a:endParaRPr lang="en-US"/>
          </a:p>
        </p:txBody>
      </p:sp>
      <p:pic>
        <p:nvPicPr>
          <p:cNvPr id="6" name="Content Placeholder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15235" y="773430"/>
            <a:ext cx="7160895" cy="58235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1315" y="1494155"/>
            <a:ext cx="7642860" cy="536384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Data Cleaning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Checking for missing data 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" y="1983105"/>
            <a:ext cx="4019550" cy="4667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065" y="2449830"/>
            <a:ext cx="390525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80" y="2336800"/>
            <a:ext cx="8924925" cy="3790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Feature Engineering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Started to group up names to get hints on their missing passenger ages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835" y="5733415"/>
            <a:ext cx="6886575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Feature Engineering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Used Median Age to prevent the age from </a:t>
            </a:r>
            <a:br>
              <a:rPr lang="en-US"/>
            </a:br>
            <a:r>
              <a:rPr lang="en-US"/>
              <a:t>being skewed if I used average.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030" y="2431415"/>
            <a:ext cx="4219575" cy="26003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1640" y="2431415"/>
            <a:ext cx="5255260" cy="26003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Feature Engineering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Sneak Peak at survival based on Titles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81680" y="1842135"/>
            <a:ext cx="5000625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59890"/>
            <a:ext cx="9420225" cy="2628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Feature Engineering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Embarkation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Encode to better fit the </a:t>
            </a:r>
            <a:br>
              <a:rPr lang="en-US"/>
            </a:br>
            <a:r>
              <a:rPr lang="en-US"/>
              <a:t>model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1540" y="2655570"/>
            <a:ext cx="5772150" cy="4051300"/>
          </a:xfrm>
          <a:prstGeom prst="rect">
            <a:avLst/>
          </a:prstGeom>
        </p:spPr>
      </p:pic>
      <p:cxnSp>
        <p:nvCxnSpPr>
          <p:cNvPr id="4" name="Straight Arrow Connector 3"/>
          <p:cNvCxnSpPr/>
          <p:nvPr/>
        </p:nvCxnSpPr>
        <p:spPr>
          <a:xfrm>
            <a:off x="9866630" y="5429885"/>
            <a:ext cx="1222375" cy="51562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5" name="Oval 4"/>
          <p:cNvSpPr/>
          <p:nvPr/>
        </p:nvSpPr>
        <p:spPr>
          <a:xfrm>
            <a:off x="11169650" y="5892800"/>
            <a:ext cx="615950" cy="485140"/>
          </a:xfrm>
          <a:prstGeom prst="ellipse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9866630" y="3385820"/>
            <a:ext cx="1303020" cy="82804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Oval 7"/>
          <p:cNvSpPr/>
          <p:nvPr/>
        </p:nvSpPr>
        <p:spPr>
          <a:xfrm>
            <a:off x="11169650" y="2817495"/>
            <a:ext cx="615950" cy="485140"/>
          </a:xfrm>
          <a:prstGeom prst="ellipse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975" y="914400"/>
            <a:ext cx="3819525" cy="523875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V="1">
            <a:off x="4892675" y="1483995"/>
            <a:ext cx="1104900" cy="92329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Model Building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Used Random Forest Classifier, KNeighbours Classifer and Logistic Regression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820" y="2257425"/>
            <a:ext cx="6572250" cy="11715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709670"/>
            <a:ext cx="4572000" cy="160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960" y="3709670"/>
            <a:ext cx="6686550" cy="1924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Evaluation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Making predictions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4495" y="2668270"/>
            <a:ext cx="6353175" cy="25812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15" y="2668270"/>
            <a:ext cx="4950460" cy="19653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Evaluation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Random Forest / KNN / Logistic Regression (Respectively)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2572385"/>
            <a:ext cx="4238625" cy="2457450"/>
          </a:xfrm>
          <a:prstGeom prst="rect">
            <a:avLst/>
          </a:prstGeom>
          <a:ln cmpd="sng"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355" y="2572385"/>
            <a:ext cx="3942080" cy="246761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600" y="2572385"/>
            <a:ext cx="4128770" cy="2467610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Evaluation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olidFill>
                  <a:srgbClr val="00B050"/>
                </a:solidFill>
              </a:rPr>
              <a:t>Random Forest</a:t>
            </a:r>
            <a:r>
              <a:rPr lang="en-US"/>
              <a:t> / KNN / Logistic Regression (Respectively)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Going based on highest accuracy and better confusion matrix results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45" y="2572385"/>
            <a:ext cx="4238625" cy="2457450"/>
          </a:xfrm>
          <a:prstGeom prst="rect">
            <a:avLst/>
          </a:prstGeom>
          <a:ln cmpd="sng">
            <a:solidFill>
              <a:srgbClr val="FF0000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0355" y="2572385"/>
            <a:ext cx="3942080" cy="2467610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600" y="2572385"/>
            <a:ext cx="4128770" cy="2467610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7" name="Oval 6"/>
          <p:cNvSpPr/>
          <p:nvPr/>
        </p:nvSpPr>
        <p:spPr>
          <a:xfrm>
            <a:off x="18415" y="2229485"/>
            <a:ext cx="3746500" cy="3575050"/>
          </a:xfrm>
          <a:prstGeom prst="ellipse">
            <a:avLst/>
          </a:prstGeom>
          <a:noFill/>
          <a:ln w="635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Evaluation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Feature Importance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885" y="2251075"/>
            <a:ext cx="4390390" cy="29070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890" y="1922145"/>
            <a:ext cx="6604635" cy="46596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Evaluation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Cross Validation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86100" y="2800350"/>
            <a:ext cx="6019800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Submission of the Kaggle predictions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Loading and preparing the data to be similar conditions as in the train.csv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136775"/>
            <a:ext cx="6629400" cy="2019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930" y="3759200"/>
            <a:ext cx="7164705" cy="310007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Submission of the Kaggle predictions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Encoding, Prediction and Output before upload to Kaggle</a:t>
            </a:r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455" y="1925320"/>
            <a:ext cx="5486400" cy="18954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rcRect l="913"/>
          <a:stretch>
            <a:fillRect/>
          </a:stretch>
        </p:blipFill>
        <p:spPr>
          <a:xfrm>
            <a:off x="5624195" y="2575560"/>
            <a:ext cx="6410960" cy="394843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Submission of the Kaggle predictions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Results</a:t>
            </a:r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980" y="1854835"/>
            <a:ext cx="11620500" cy="4124325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V="1">
            <a:off x="9250680" y="4385945"/>
            <a:ext cx="1303020" cy="82804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1"/>
          </a:gra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8" name="Oval 7"/>
          <p:cNvSpPr/>
          <p:nvPr/>
        </p:nvSpPr>
        <p:spPr>
          <a:xfrm>
            <a:off x="10553700" y="3676650"/>
            <a:ext cx="898525" cy="626110"/>
          </a:xfrm>
          <a:prstGeom prst="ellipse">
            <a:avLst/>
          </a:prstGeom>
          <a:noFill/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none" lIns="91440" tIns="45720" rIns="91440" bIns="45720" numCol="1" anchor="ctr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Improvements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On hindsight</a:t>
            </a:r>
            <a:endParaRPr lang="en-US"/>
          </a:p>
          <a:p>
            <a:pPr lvl="1"/>
            <a:r>
              <a:rPr lang="en-US"/>
              <a:t>Tune hyperparameters (e.g changing the no. of neighbours)</a:t>
            </a:r>
            <a:endParaRPr lang="en-US"/>
          </a:p>
          <a:p>
            <a:pPr lvl="1"/>
            <a:r>
              <a:rPr lang="en-US"/>
              <a:t>Other types of feature engineering (e.g combining or making bands for age or price of tickets)</a:t>
            </a:r>
            <a:endParaRPr lang="en-US"/>
          </a:p>
          <a:p>
            <a:pPr lvl="1"/>
            <a:r>
              <a:rPr lang="en-US"/>
              <a:t>Ensemble methods (from ChatGPT)</a:t>
            </a:r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References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000"/>
              <a:t>https://www.kaggle.com/competitions/titanic/overview</a:t>
            </a:r>
            <a:endParaRPr lang="en-US" altLang="en-US" sz="2000"/>
          </a:p>
          <a:p>
            <a:r>
              <a:rPr lang="en-US" altLang="en-US" sz="2000"/>
              <a:t>https://www.kaggle.com/code/alexisbcook/titanic-tutorial/notebook</a:t>
            </a:r>
            <a:endParaRPr lang="en-US" altLang="en-US" sz="2000"/>
          </a:p>
          <a:p>
            <a:r>
              <a:rPr lang="en-US" altLang="en-US" sz="2000"/>
              <a:t>https://www.encyclopedia-titanica.org/titanic-deckplans/</a:t>
            </a:r>
            <a:endParaRPr lang="en-US" altLang="en-US" sz="2000"/>
          </a:p>
          <a:p>
            <a:r>
              <a:rPr lang="en-US" altLang="en-US" sz="2000"/>
              <a:t>https://www.linkedin.com/pulse/who-survived-titanic-data-exploration-journey-andy-lau/</a:t>
            </a:r>
            <a:endParaRPr lang="en-US" altLang="en-US" sz="2000"/>
          </a:p>
          <a:p>
            <a:r>
              <a:rPr lang="en-US" altLang="en-US" sz="2000"/>
              <a:t>https://rpubs.com/vpim/1144040</a:t>
            </a:r>
            <a:endParaRPr lang="en-US" altLang="en-US" sz="2000"/>
          </a:p>
          <a:p>
            <a:r>
              <a:rPr lang="en-US" altLang="en-US" sz="2000"/>
              <a:t>https://www.linkedin.com/pulse/titanic-route-data-set-albert-anthony-d-gavino-mba/</a:t>
            </a:r>
            <a:endParaRPr lang="en-US" altLang="en-US" sz="2000"/>
          </a:p>
          <a:p>
            <a:r>
              <a:rPr lang="en-US" altLang="en-US" sz="2000"/>
              <a:t>https://titanicfacts.net/titanic-maiden-voyage/</a:t>
            </a:r>
            <a:endParaRPr lang="en-US" altLang="en-US" sz="2000"/>
          </a:p>
          <a:p>
            <a:r>
              <a:rPr lang="en-US" altLang="en-US" sz="2000"/>
              <a:t>https://www.sciencedirect.com/science/article/abs/pii/0277953686900419#:~:text=Here%20the%20female%20advantage%20was,lifeboats%20(Hall%2C%201986).</a:t>
            </a:r>
            <a:endParaRPr lang="en-US" altLang="en-US" sz="2000"/>
          </a:p>
          <a:p>
            <a:r>
              <a:rPr lang="en-US" altLang="en-US" sz="2000"/>
              <a:t>https://www.theguardian.com/science/2010/mar/02/titanic-lusitania-women-children-survival</a:t>
            </a:r>
            <a:endParaRPr lang="en-US" altLang="en-US" sz="2000"/>
          </a:p>
          <a:p>
            <a:r>
              <a:rPr lang="en-US" altLang="en-US" sz="2000"/>
              <a:t>https://www.etymonline.com/word/master</a:t>
            </a:r>
            <a:endParaRPr lang="en-US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635" y="3359785"/>
            <a:ext cx="10972800" cy="582613"/>
          </a:xfrm>
        </p:spPr>
        <p:txBody>
          <a:bodyPr/>
          <a:p>
            <a:pPr algn="ctr"/>
            <a:r>
              <a:rPr lang="en-US" sz="6600"/>
              <a:t>Thank you</a:t>
            </a:r>
            <a:endParaRPr lang="en-US"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3402</Words>
  <Application>WPS Presentation</Application>
  <PresentationFormat>Widescreen</PresentationFormat>
  <Paragraphs>152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3" baseType="lpstr">
      <vt:lpstr>Arial</vt:lpstr>
      <vt:lpstr>SimSun</vt:lpstr>
      <vt:lpstr>Wingdings</vt:lpstr>
      <vt:lpstr>Microsoft YaHei</vt:lpstr>
      <vt:lpstr>Arial Unicode MS</vt:lpstr>
      <vt:lpstr>Calibri</vt:lpstr>
      <vt:lpstr>Gear Drives</vt:lpstr>
      <vt:lpstr>Applied Machine Learning Assessment 1</vt:lpstr>
      <vt:lpstr>Table of Contents</vt:lpstr>
      <vt:lpstr>Description of data</vt:lpstr>
      <vt:lpstr>Prelimary Research and Refresher</vt:lpstr>
      <vt:lpstr>Background research</vt:lpstr>
      <vt:lpstr>Background research</vt:lpstr>
      <vt:lpstr>Background research</vt:lpstr>
      <vt:lpstr>Background research</vt:lpstr>
      <vt:lpstr>Start of Code</vt:lpstr>
      <vt:lpstr>Data Cleaning</vt:lpstr>
      <vt:lpstr>Feature Engineering</vt:lpstr>
      <vt:lpstr>Feature Engineering</vt:lpstr>
      <vt:lpstr>Feature Engineering</vt:lpstr>
      <vt:lpstr>Feature Engineering</vt:lpstr>
      <vt:lpstr>Model Building</vt:lpstr>
      <vt:lpstr>Evaluation</vt:lpstr>
      <vt:lpstr>Evaluation</vt:lpstr>
      <vt:lpstr>Evaluation</vt:lpstr>
      <vt:lpstr>Evaluation</vt:lpstr>
      <vt:lpstr>Evaluation</vt:lpstr>
      <vt:lpstr>Submission of the Kaggle predictions</vt:lpstr>
      <vt:lpstr>Submission of the Kaggle predictions</vt:lpstr>
      <vt:lpstr>Submission of the Kaggle predictions</vt:lpstr>
      <vt:lpstr>Improvements</vt:lpstr>
      <vt:lpstr>References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WPS_1704878147</cp:lastModifiedBy>
  <cp:revision>10</cp:revision>
  <dcterms:created xsi:type="dcterms:W3CDTF">2024-12-01T03:07:00Z</dcterms:created>
  <dcterms:modified xsi:type="dcterms:W3CDTF">2026-03-26T07:47:12Z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F3D449EC0F1F4D9595A4D0A982F1C275_13</vt:lpwstr>
  </property>
  <property fmtid="{D5CDD505-2E9C-101B-9397-08002B2CF9AE}" pid="3" name="KSOProductBuildVer">
    <vt:lpwstr>1033-12.1.0.25180</vt:lpwstr>
  </property>
</Properties>
</file>